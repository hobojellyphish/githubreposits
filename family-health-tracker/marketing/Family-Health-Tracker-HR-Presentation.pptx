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Employer cost ($B)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24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2B3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Unhealthy-worker
absenteeism</c:v>
                  </c:pt>
                  <c:pt idx="1">
                    <c:v>Obesity/overweight
economic burden</c:v>
                  </c:pt>
                  <c:pt idx="2">
                    <c:v>Poor health,
all-in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</c:v>
                </c:pt>
                <c:pt idx="1">
                  <c:v>425.5</c:v>
                </c:pt>
                <c:pt idx="2">
                  <c:v>575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24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4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6858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tmp/claude-0/-home-user-GitHubReposits/476c6c92-7d2a-59fa-8bf1-9dbd74f2d9fb/scratchpad/hr-deck/icons/he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6148" y="80467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4884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Health Tracker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097280" y="306324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On-Device Wellness Benefit for Your Workforce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97280" y="370332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7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healthcare costs. Fewer sick days. Sharper, more present teams.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603504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9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HR &amp; Total Rewards leadership ·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care costs are outrunning the budget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every HR leader is already watching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9496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1F7F7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2148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$18,500+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13816" y="32461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total employer health cost per employee, 2026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4892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Mercer, 2026 Employer Health Benefits Outlook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34256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1F7F7"/>
          </a:solidFill>
          <a:ln/>
        </p:spPr>
      </p:sp>
      <p:sp>
        <p:nvSpPr>
          <p:cNvPr id="9" name="Text 7"/>
          <p:cNvSpPr/>
          <p:nvPr/>
        </p:nvSpPr>
        <p:spPr>
          <a:xfrm>
            <a:off x="4562856" y="2148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08576" y="32461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rise in U.S. employer health care costs for 2026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62856" y="4892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Aon, 2026 U.S. Health Care Cost Projection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29016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1F7F7"/>
          </a:solidFill>
          <a:ln/>
        </p:spPr>
      </p:sp>
      <p:sp>
        <p:nvSpPr>
          <p:cNvPr id="13" name="Text 11"/>
          <p:cNvSpPr/>
          <p:nvPr/>
        </p:nvSpPr>
        <p:spPr>
          <a:xfrm>
            <a:off x="8357616" y="21488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$575B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403336" y="32461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U.S. employer cost of poor employee health — 1.5 billion lost workdays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57616" y="4892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Integrated Benefits Institute, analysis of BLS data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problem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Health Tracker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Chronic, everyday conditions drive the spend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and overweight alone — one slice of the chronic-disease picture — cost U.S. employers $425.5B in 2023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F1F7F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59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claude-0/-home-user-GitHubReposits/476c6c92-7d2a-59fa-8bf1-9dbd74f2d9fb/scratchpad/hr-deck/icons/activity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22107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6596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productivity (presenteeism)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778240" y="196596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$160.3B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F1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33147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tmp/claude-0/-home-user-GitHubReposits/476c6c92-7d2a-59fa-8bf1-9dbd74f2d9fb/scratchpad/hr-deck/icons/stethoscope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3409798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15468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medical costs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8778240" y="31546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$146.5B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640080" y="434340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F1F7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5034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tmp/claude-0/-home-user-GitHubReposits/476c6c92-7d2a-59fa-8bf1-9dbd74f2d9fb/scratchpad/hr-deck/icons/calendarx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4598518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34340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Absenteeism — missed workdays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778240" y="43434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$82.3B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640080" y="61722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GlobalData / Nature Nutrition &amp; Diabetes, “Assessing the Economic Impact of Obesity and Overweight on Employers,” Dec 2024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driving it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Health Tracker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However you measure it, the number is enormous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estimates of the annual U.S. employer cost, in billions of dollars</a:t>
            </a:r>
            <a:endParaRPr lang="en-US" sz="14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600200"/>
          <a:ext cx="1054303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Gallup (2013 absenteeism study) · GlobalData/Nature Nutrition &amp; Diabetes (Dec 2024) · Integrated Benefits Institute (BLS analysis)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productivity drain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Health Tracker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engagement has a proven return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most-cited benchmark in the field — a meta-analysis of 36 peer-reviewed workplace wellness studies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928116" y="1965960"/>
            <a:ext cx="4937760" cy="3474720"/>
          </a:xfrm>
          <a:prstGeom prst="roundRect">
            <a:avLst>
              <a:gd name="adj" fmla="val 3684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2939796" y="228600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tmp/claude-0/-home-user-GitHubReposits/476c6c92-7d2a-59fa-8bf1-9dbd74f2d9fb/scratchpad/hr-deck/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8668" y="240487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2436" y="33375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$3.27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1385316" y="41605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in medical costs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$1 invested in workplace wellness engagement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3076" y="1965960"/>
            <a:ext cx="4937760" cy="3474720"/>
          </a:xfrm>
          <a:prstGeom prst="roundRect">
            <a:avLst>
              <a:gd name="adj" fmla="val 3684"/>
            </a:avLst>
          </a:prstGeom>
          <a:solidFill>
            <a:srgbClr val="00A896"/>
          </a:solidFill>
          <a:ln/>
        </p:spPr>
      </p:sp>
      <p:sp>
        <p:nvSpPr>
          <p:cNvPr id="10" name="Shape 7"/>
          <p:cNvSpPr/>
          <p:nvPr/>
        </p:nvSpPr>
        <p:spPr>
          <a:xfrm>
            <a:off x="8334756" y="22860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tmp/claude-0/-home-user-GitHubReposits/476c6c92-7d2a-59fa-8bf1-9dbd74f2d9fb/scratchpad/hr-deck/icons/calendarx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628" y="2404872"/>
            <a:ext cx="676656" cy="6766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97396" y="33375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$2.73</a:t>
            </a:r>
            <a:endParaRPr lang="en-US" sz="4600" dirty="0"/>
          </a:p>
        </p:txBody>
      </p:sp>
      <p:sp>
        <p:nvSpPr>
          <p:cNvPr id="13" name="Text 9"/>
          <p:cNvSpPr/>
          <p:nvPr/>
        </p:nvSpPr>
        <p:spPr>
          <a:xfrm>
            <a:off x="6780276" y="41605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in absentee-day costs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$1 invested in workplace wellness engagement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Baicker, Cutler &amp; Song, “Workplace Wellness Programs Can Generate Savings,” Health Affairs, 2010 (Harvard)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field's oldest large benchmark and still its most-cited — later research refines it, but nothing since has replaced it.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Health Tracker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daily-use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Health Tracker is a free, multi-profile household health app. Every family member logs heart rate, sleep, meals, medications, and more in seconds — and everyday use is exactly what a wellness incentive program needs to actually work.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one person or the whole household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setup for HR or IT — it's a free download, nothing to administer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a wellness program cares about, in one place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028432" y="667512"/>
            <a:ext cx="2825496" cy="5867896"/>
          </a:xfrm>
          <a:prstGeom prst="roundRect">
            <a:avLst>
              <a:gd name="adj" fmla="val 7120"/>
            </a:avLst>
          </a:prstGeom>
          <a:solidFill>
            <a:srgbClr val="0B2B36"/>
          </a:solidFill>
          <a:ln/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tmp/claude-0/-home-user-GitHubReposits/476c6c92-7d2a-59fa-8bf1-9dbd74f2d9fb/scratchpad/shots/01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77240"/>
            <a:ext cx="2606040" cy="5648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Family Health Tracker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Health Tracker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real households, not a corporate portal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569339" y="1417320"/>
            <a:ext cx="731520" cy="731520"/>
          </a:xfrm>
          <a:prstGeom prst="ellipse">
            <a:avLst/>
          </a:prstGeom>
          <a:solidFill>
            <a:srgbClr val="F1F7F7"/>
          </a:solidFill>
          <a:ln/>
        </p:spPr>
      </p:sp>
      <p:pic>
        <p:nvPicPr>
          <p:cNvPr id="4" name="Image 0" descr="/tmp/claude-0/-home-user-GitHubReposits/476c6c92-7d2a-59fa-8bf1-9dbd74f2d9fb/scratchpad/hr-deck/icons/heart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437" y="1512418"/>
            <a:ext cx="541325" cy="5413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286000"/>
            <a:ext cx="24985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symptom &amp; vitals tracking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sleep, weight, blood pressure, glucose, mood, and more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342257" y="1417320"/>
            <a:ext cx="731520" cy="731520"/>
          </a:xfrm>
          <a:prstGeom prst="ellipse">
            <a:avLst/>
          </a:prstGeom>
          <a:solidFill>
            <a:srgbClr val="F1F7F7"/>
          </a:solidFill>
          <a:ln/>
        </p:spPr>
      </p:sp>
      <p:pic>
        <p:nvPicPr>
          <p:cNvPr id="8" name="Image 1" descr="/tmp/claude-0/-home-user-GitHubReposits/476c6c92-7d2a-59fa-8bf1-9dbd74f2d9fb/scratchpad/hr-deck/icons/trending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355" y="1512418"/>
            <a:ext cx="541325" cy="5413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58718" y="2286000"/>
            <a:ext cx="24985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504438" y="2743200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/ week / month / custom-range charts for every metric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115175" y="1417320"/>
            <a:ext cx="731520" cy="731520"/>
          </a:xfrm>
          <a:prstGeom prst="ellipse">
            <a:avLst/>
          </a:prstGeom>
          <a:solidFill>
            <a:srgbClr val="F1F7F7"/>
          </a:solidFill>
          <a:ln/>
        </p:spPr>
      </p:sp>
      <p:pic>
        <p:nvPicPr>
          <p:cNvPr id="12" name="Image 2" descr="/tmp/claude-0/-home-user-GitHubReposits/476c6c92-7d2a-59fa-8bf1-9dbd74f2d9fb/scratchpad/hr-deck/icons/users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273" y="1512418"/>
            <a:ext cx="541325" cy="5413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31636" y="2286000"/>
            <a:ext cx="24985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comparison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277356" y="2743200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household members' data moves together, side by side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9888093" y="1417320"/>
            <a:ext cx="731520" cy="731520"/>
          </a:xfrm>
          <a:prstGeom prst="ellipse">
            <a:avLst/>
          </a:prstGeom>
          <a:solidFill>
            <a:srgbClr val="F1F7F7"/>
          </a:solidFill>
          <a:ln/>
        </p:spPr>
      </p:sp>
      <p:pic>
        <p:nvPicPr>
          <p:cNvPr id="16" name="Image 3" descr="/tmp/claude-0/-home-user-GitHubReposits/476c6c92-7d2a-59fa-8bf1-9dbd74f2d9fb/scratchpad/hr-deck/icons/flask_pri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3191" y="1512418"/>
            <a:ext cx="541325" cy="5413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04554" y="2286000"/>
            <a:ext cx="24985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results &amp; flagging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9050274" y="2743200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Thyroid, vitamin, lipid panels — auto-flagged against reference ranges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1569339" y="3749040"/>
            <a:ext cx="731520" cy="731520"/>
          </a:xfrm>
          <a:prstGeom prst="ellipse">
            <a:avLst/>
          </a:prstGeom>
          <a:solidFill>
            <a:srgbClr val="F1F7F7"/>
          </a:solidFill>
          <a:ln/>
        </p:spPr>
      </p:sp>
      <p:pic>
        <p:nvPicPr>
          <p:cNvPr id="20" name="Image 4" descr="/tmp/claude-0/-home-user-GitHubReposits/476c6c92-7d2a-59fa-8bf1-9dbd74f2d9fb/scratchpad/hr-deck/icons/pill_prima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437" y="3844138"/>
            <a:ext cx="541325" cy="5413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5800" y="4617720"/>
            <a:ext cx="24985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tracking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731520" y="5074920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Per-profile med lists with taken/missed/skipped dose logging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4342257" y="3749040"/>
            <a:ext cx="731520" cy="731520"/>
          </a:xfrm>
          <a:prstGeom prst="ellipse">
            <a:avLst/>
          </a:prstGeom>
          <a:solidFill>
            <a:srgbClr val="F1F7F7"/>
          </a:solidFill>
          <a:ln/>
        </p:spPr>
      </p:sp>
      <p:pic>
        <p:nvPicPr>
          <p:cNvPr id="24" name="Image 5" descr="/tmp/claude-0/-home-user-GitHubReposits/476c6c92-7d2a-59fa-8bf1-9dbd74f2d9fb/scratchpad/hr-deck/icons/sparkles_prima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7355" y="3844138"/>
            <a:ext cx="541325" cy="5413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458718" y="4617720"/>
            <a:ext cx="24985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tips &amp; reminders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3504438" y="5074920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wellness tips plus optional on-device reminders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7115175" y="3749040"/>
            <a:ext cx="731520" cy="731520"/>
          </a:xfrm>
          <a:prstGeom prst="ellipse">
            <a:avLst/>
          </a:prstGeom>
          <a:solidFill>
            <a:srgbClr val="F1F7F7"/>
          </a:solidFill>
          <a:ln/>
        </p:spPr>
      </p:sp>
      <p:pic>
        <p:nvPicPr>
          <p:cNvPr id="28" name="Image 6" descr="/tmp/claude-0/-home-user-GitHubReposits/476c6c92-7d2a-59fa-8bf1-9dbd74f2d9fb/scratchpad/hr-deck/icons/camera_primar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0273" y="3844138"/>
            <a:ext cx="541325" cy="54132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231636" y="4617720"/>
            <a:ext cx="24985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label scanner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6277356" y="5074920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 label to auto-fill a meal's nutrition facts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9888093" y="3749040"/>
            <a:ext cx="731520" cy="731520"/>
          </a:xfrm>
          <a:prstGeom prst="ellipse">
            <a:avLst/>
          </a:prstGeom>
          <a:solidFill>
            <a:srgbClr val="F1F7F7"/>
          </a:solidFill>
          <a:ln/>
        </p:spPr>
      </p:sp>
      <p:pic>
        <p:nvPicPr>
          <p:cNvPr id="32" name="Image 7" descr="/tmp/claude-0/-home-user-GitHubReposits/476c6c92-7d2a-59fa-8bf1-9dbd74f2d9fb/scratchpad/hr-deck/icons/download_prima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3191" y="3844138"/>
            <a:ext cx="541325" cy="54132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04554" y="4617720"/>
            <a:ext cx="24985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past health data</a:t>
            </a:r>
            <a:endParaRPr lang="en-US" sz="1350" dirty="0"/>
          </a:p>
        </p:txBody>
      </p:sp>
      <p:sp>
        <p:nvSpPr>
          <p:cNvPr id="34" name="Text 24"/>
          <p:cNvSpPr/>
          <p:nvPr/>
        </p:nvSpPr>
        <p:spPr>
          <a:xfrm>
            <a:off x="9050274" y="5074920"/>
            <a:ext cx="240715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an Apple Health export or CSV for long-term history</a:t>
            </a:r>
            <a:endParaRPr lang="en-US" sz="1050" dirty="0"/>
          </a:p>
        </p:txBody>
      </p:sp>
      <p:sp>
        <p:nvSpPr>
          <p:cNvPr id="35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overview</a:t>
            </a:r>
            <a:endParaRPr lang="en-US" sz="1000" dirty="0"/>
          </a:p>
        </p:txBody>
      </p:sp>
      <p:sp>
        <p:nvSpPr>
          <p:cNvPr id="36" name="Text 26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Health Tracker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isn't a feature here — it's the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matters for adoption: employees only try a wellness benefit they trust with their health data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90956" y="187452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F4F1EE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" y="21488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claude-0/-home-user-GitHubReposits/476c6c92-7d2a-59fa-8bf1-9dbd74f2d9fb/scratchpad/hr-deck/icons/cloud_mu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206" y="22320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33956" y="219456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wellness apps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10996" y="297180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✕"/>
            </a:pPr>
            <a:r>
              <a:rPr lang="en-US" sz="125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uploaded to a vendor's cloud servers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10996" y="370332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✕"/>
            </a:pPr>
            <a:r>
              <a:rPr lang="en-US" sz="125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 account and vendor privacy policy review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10996" y="44348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✕"/>
            </a:pPr>
            <a:r>
              <a:rPr lang="en-US" sz="125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IT/Legal must vet a third-party data processor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10996" y="51663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✕"/>
            </a:pPr>
            <a:r>
              <a:rPr lang="en-US" sz="125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often hesitate to log sensitive details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23076" y="1874520"/>
            <a:ext cx="5074920" cy="4206240"/>
          </a:xfrm>
          <a:prstGeom prst="roundRect">
            <a:avLst>
              <a:gd name="adj" fmla="val 2609"/>
            </a:avLst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6643116" y="21488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tmp/claude-0/-home-user-GitHubReposits/476c6c92-7d2a-59fa-8bf1-9dbd74f2d9fb/scratchpad/hr-deck/icons/shield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26" y="2232050"/>
            <a:ext cx="473659" cy="4736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66076" y="219456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Health Tracker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643116" y="297180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stays on the employee's own device — zero network calls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643116" y="370332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no login, nothing to breach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643116" y="44348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exists for IT/Legal to review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643116" y="51663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identically in airplane mode — verifiable, not just promised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privacy wins adoption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Health Tracker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fits your incentive program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10908792" cy="1508760"/>
          </a:xfrm>
          <a:prstGeom prst="roundRect">
            <a:avLst>
              <a:gd name="adj" fmla="val 6061"/>
            </a:avLst>
          </a:prstGeom>
          <a:solidFill>
            <a:srgbClr val="F1F7F7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973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tmp/claude-0/-home-user-GitHubReposits/476c6c92-7d2a-59fa-8bf1-9dbd74f2d9fb/scratchpad/hr-deck/icons/target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992478"/>
            <a:ext cx="541325" cy="541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673352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daily-engagement layer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920240" y="2039112"/>
            <a:ext cx="94457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use it to actually build the habits your program rewards — logging vitals, meals, labs, and medication adherence day to day, not just once a quarter.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10908792" cy="1508760"/>
          </a:xfrm>
          <a:prstGeom prst="roundRect">
            <a:avLst>
              <a:gd name="adj" fmla="val 6061"/>
            </a:avLst>
          </a:prstGeom>
          <a:solidFill>
            <a:srgbClr val="F1F7F7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35433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tmp/claude-0/-home-user-GitHubReposits/476c6c92-7d2a-59fa-8bf1-9dbd74f2d9fb/scratchpad/hr-deck/icons/handshake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3638398"/>
            <a:ext cx="541325" cy="5413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3319272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what you already run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920240" y="3685032"/>
            <a:ext cx="94457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alongside points-based or self-attestation incentive structures you already administer — no new system for HR to stand up.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800600"/>
            <a:ext cx="10908792" cy="1508760"/>
          </a:xfrm>
          <a:prstGeom prst="roundRect">
            <a:avLst>
              <a:gd name="adj" fmla="val 6061"/>
            </a:avLst>
          </a:prstGeom>
          <a:solidFill>
            <a:srgbClr val="F1F7F7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51892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tmp/claude-0/-home-user-GitHubReposits/476c6c92-7d2a-59fa-8bf1-9dbd74f2d9fb/scratchpad/hr-deck/icons/building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5284318"/>
            <a:ext cx="541325" cy="5413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965192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today's limits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920240" y="5330952"/>
            <a:ext cx="944575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employer dashboard or aggregate reporting — by design, nothing leaves the device today. An optional, anonymized, opt-in reporting layer is a roadmap conversation we'd shape with a pilot partner, not a promise we're making now.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your program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Health Tracker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8229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tmp/claude-0/-home-user-GitHubReposits/476c6c92-7d2a-59fa-8bf1-9dbd74f2d9fb/scratchpad/hr-deck/icons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6148" y="94183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9659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pilot it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097280" y="283464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 6–8 week opt-in pilot with one team or department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103120" y="3749040"/>
            <a:ext cx="798271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install — no procurement, no vendor contract to negotiate</a:t>
            </a:r>
            <a:endParaRPr lang="en-US" sz="1400" dirty="0"/>
          </a:p>
          <a:p>
            <a:pPr algn="l"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for IT or Legal to review — there's no data processor relationship to establish</a:t>
            </a:r>
            <a:endParaRPr lang="en-US" sz="1400" dirty="0"/>
          </a:p>
          <a:p>
            <a:pPr algn="l"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D7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check back in with participation trends you already track — not device data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612648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9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Health Tracker · Private by design · github.com/HoboJellyphish/GitHubReposits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1F7F7"/>
          </a:solidFill>
          <a:ln/>
        </p:spPr>
      </p:sp>
      <p:pic>
        <p:nvPicPr>
          <p:cNvPr id="3" name="Image 0" descr="/tmp/claude-0/-home-user-GitHubReposits/476c6c92-7d2a-59fa-8bf1-9dbd74f2d9fb/scratchpad/hr-deck/icons/book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29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029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914400" y="1463040"/>
            <a:ext cx="1036015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Mercer, “Employers and Workers Face Affordability Crunch as Health Insurance Cost Is Expected to Exceed $18,500 Per Employee in 2026,” 2025.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Aon, “U.S. Employer Health Care Costs Expected to Rise 9.5 Percent in 2026,” Sep 10, 2025.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Benefits Institute, “Poor Health Costs US Employers $575 Billion and 1.5 Billion Days of Lost Productivity,” analysis of U.S. Bureau of Labor Statistics data, 2015–2019.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GlobalData / Nature Nutrition &amp; Diabetes, “Assessing the Economic Impact of Obesity and Overweight on Employers,” Dec 2024.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Gallup, “Unhealthy U.S. Workers’ Absenteeism Costs $153 Billion,” 2013.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7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Baicker, Cutler &amp; Song, “Workplace Wellness Programs Can Generate Savings,” Health Affairs, 2010 (Harvard University; meta-analysis of 36 peer-reviewed studies).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88552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Health Tracker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2026-08-22T22:25:36Z</dcterms:created>
  <dcterms:modified xsi:type="dcterms:W3CDTF">2026-08-22T22:25:36Z</dcterms:modified>
</cp:coreProperties>
</file>